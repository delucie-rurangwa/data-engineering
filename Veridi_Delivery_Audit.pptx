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Calibri"/>
              </a:rPr>
              <a:t>% of orders late, top 10 states (national: 8.1%)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(0-5 days)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AL</c:v>
                  </c:pt>
                  <c:pt idx="1">
                    <c:v>MA</c:v>
                  </c:pt>
                  <c:pt idx="2">
                    <c:v>PI</c:v>
                  </c:pt>
                  <c:pt idx="3">
                    <c:v>CE</c:v>
                  </c:pt>
                  <c:pt idx="4">
                    <c:v>SE</c:v>
                  </c:pt>
                  <c:pt idx="5">
                    <c:v>BA</c:v>
                  </c:pt>
                  <c:pt idx="6">
                    <c:v>RJ</c:v>
                  </c:pt>
                  <c:pt idx="7">
                    <c:v>TO</c:v>
                  </c:pt>
                  <c:pt idx="8">
                    <c:v>PA</c:v>
                  </c:pt>
                  <c:pt idx="9">
                    <c:v>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9.5</c:v>
                </c:pt>
                <c:pt idx="1">
                  <c:v>8.4</c:v>
                </c:pt>
                <c:pt idx="2">
                  <c:v>7.2</c:v>
                </c:pt>
                <c:pt idx="3">
                  <c:v>4.2</c:v>
                </c:pt>
                <c:pt idx="4">
                  <c:v>3</c:v>
                </c:pt>
                <c:pt idx="5">
                  <c:v>5.5</c:v>
                </c:pt>
                <c:pt idx="6">
                  <c:v>4.4</c:v>
                </c:pt>
                <c:pt idx="7">
                  <c:v>5.9</c:v>
                </c:pt>
                <c:pt idx="8">
                  <c:v>3.4</c:v>
                </c:pt>
                <c:pt idx="9">
                  <c:v>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 Late (&gt;5 days)</c:v>
                </c:pt>
              </c:strCache>
            </c:strRef>
          </c:tx>
          <c:spPr>
            <a:solidFill>
              <a:srgbClr val="6B0F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AL</c:v>
                  </c:pt>
                  <c:pt idx="1">
                    <c:v>MA</c:v>
                  </c:pt>
                  <c:pt idx="2">
                    <c:v>PI</c:v>
                  </c:pt>
                  <c:pt idx="3">
                    <c:v>CE</c:v>
                  </c:pt>
                  <c:pt idx="4">
                    <c:v>SE</c:v>
                  </c:pt>
                  <c:pt idx="5">
                    <c:v>BA</c:v>
                  </c:pt>
                  <c:pt idx="6">
                    <c:v>RJ</c:v>
                  </c:pt>
                  <c:pt idx="7">
                    <c:v>TO</c:v>
                  </c:pt>
                  <c:pt idx="8">
                    <c:v>PA</c:v>
                  </c:pt>
                  <c:pt idx="9">
                    <c:v>ES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14.4</c:v>
                </c:pt>
                <c:pt idx="1">
                  <c:v>11.3</c:v>
                </c:pt>
                <c:pt idx="2">
                  <c:v>8.8</c:v>
                </c:pt>
                <c:pt idx="3">
                  <c:v>11.1</c:v>
                </c:pt>
                <c:pt idx="4">
                  <c:v>12.2</c:v>
                </c:pt>
                <c:pt idx="5">
                  <c:v>8.5</c:v>
                </c:pt>
                <c:pt idx="6">
                  <c:v>9.1</c:v>
                </c:pt>
                <c:pt idx="7">
                  <c:v>6.9</c:v>
                </c:pt>
                <c:pt idx="8">
                  <c:v>9</c:v>
                </c:pt>
                <c:pt idx="9">
                  <c:v>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0"/>
        <c:axPos val="l"/>
        <c:majorGridlines>
          <c:spPr>
            <a:ln w="6350" cap="flat">
              <a:solidFill>
                <a:srgbClr val="E1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7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Calibri"/>
              </a:rPr>
              <a:t>% late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late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Northeast</c:v>
                  </c:pt>
                  <c:pt idx="1">
                    <c:v>Rest of Brazil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14.3</c:v>
                </c:pt>
                <c:pt idx="1">
                  <c:v>7.5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Calibri"/>
              </a:rPr>
              <a:t>Average review score (1-5)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review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On Time</c:v>
                  </c:pt>
                  <c:pt idx="1">
                    <c:v>Late (0-5 d)</c:v>
                  </c:pt>
                  <c:pt idx="2">
                    <c:v>Super Late (&gt;5 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4.29</c:v>
                </c:pt>
                <c:pt idx="1">
                  <c:v>3.46</c:v>
                </c:pt>
                <c:pt idx="2">
                  <c:v>1.79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Calibri"/>
              </a:rPr>
              <a:t>Days from purchase to delivery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Promised (median days)</c:v>
                </c:pt>
              </c:strCache>
            </c:strRef>
          </c:tx>
          <c:spPr>
            <a:solidFill>
              <a:srgbClr val="1B2A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AL</c:v>
                  </c:pt>
                  <c:pt idx="1">
                    <c:v>MA</c:v>
                  </c:pt>
                  <c:pt idx="2">
                    <c:v>CE</c:v>
                  </c:pt>
                  <c:pt idx="3">
                    <c:v>SE</c:v>
                  </c:pt>
                  <c:pt idx="4">
                    <c:v>BA</c:v>
                  </c:pt>
                  <c:pt idx="5">
                    <c:v>RJ</c:v>
                  </c:pt>
                  <c:pt idx="6">
                    <c:v>SP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31.4</c:v>
                </c:pt>
                <c:pt idx="1">
                  <c:v>30.2</c:v>
                </c:pt>
                <c:pt idx="2">
                  <c:v>31.2</c:v>
                </c:pt>
                <c:pt idx="3">
                  <c:v>29.5</c:v>
                </c:pt>
                <c:pt idx="4">
                  <c:v>29</c:v>
                </c:pt>
                <c:pt idx="5">
                  <c:v>24.6</c:v>
                </c:pt>
                <c:pt idx="6">
                  <c:v>18.8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(median days)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AL</c:v>
                  </c:pt>
                  <c:pt idx="1">
                    <c:v>MA</c:v>
                  </c:pt>
                  <c:pt idx="2">
                    <c:v>CE</c:v>
                  </c:pt>
                  <c:pt idx="3">
                    <c:v>SE</c:v>
                  </c:pt>
                  <c:pt idx="4">
                    <c:v>BA</c:v>
                  </c:pt>
                  <c:pt idx="5">
                    <c:v>RJ</c:v>
                  </c:pt>
                  <c:pt idx="6">
                    <c:v>SP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22.3</c:v>
                </c:pt>
                <c:pt idx="1">
                  <c:v>19.2</c:v>
                </c:pt>
                <c:pt idx="2">
                  <c:v>18.2</c:v>
                </c:pt>
                <c:pt idx="3">
                  <c:v>18</c:v>
                </c:pt>
                <c:pt idx="4">
                  <c:v>16.9</c:v>
                </c:pt>
                <c:pt idx="5">
                  <c:v>12</c:v>
                </c:pt>
                <c:pt idx="6">
                  <c:v>7.2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Safe promise (P90 actual)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AL</c:v>
                  </c:pt>
                  <c:pt idx="1">
                    <c:v>MA</c:v>
                  </c:pt>
                  <c:pt idx="2">
                    <c:v>CE</c:v>
                  </c:pt>
                  <c:pt idx="3">
                    <c:v>SE</c:v>
                  </c:pt>
                  <c:pt idx="4">
                    <c:v>BA</c:v>
                  </c:pt>
                  <c:pt idx="5">
                    <c:v>RJ</c:v>
                  </c:pt>
                  <c:pt idx="6">
                    <c:v>SP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40</c:v>
                </c:pt>
                <c:pt idx="1">
                  <c:v>35</c:v>
                </c:pt>
                <c:pt idx="2">
                  <c:v>35</c:v>
                </c:pt>
                <c:pt idx="3">
                  <c:v>36</c:v>
                </c:pt>
                <c:pt idx="4">
                  <c:v>32</c:v>
                </c:pt>
                <c:pt idx="5">
                  <c:v>30</c:v>
                </c:pt>
                <c:pt idx="6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7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up front: it is a regional problem concentrated in the Northeast and Rio de Janeiro, and it is driven by estimates that are too tight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Mile Logistics Audit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failing specific regions, or is it nationwide?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 Logistics | Olist data: 96,470 delivered orders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nationwide: 92% of orders arrive on time, but a few regions are failing badly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60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delivered orders arrive after the promised date (4.4% by more than 5 days)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5544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 vs 7.5%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560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in the Northeast vs the rest of Brazil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1.79 vs 4.29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560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score: Super Late orders vs On Time orders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2,971 orders never delivered (canceled, unavailable, still in transit).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Alagoas, Maranhao and Piaui lead the failures; Rio de Janeiro is a surprise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37160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top-10 state is well above the 8.1% national rate.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Alagoas: 1 in 4 orders late.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(12,350 orders) is only 360 km from Sao Paulo yet 13.5% late: the biggest volume of unhappy customers.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Paulo, Minas Gerais and Parana are at 5-6%.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regions are hit harder, but distance alone does not explain it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3931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663440" y="137160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customers are almost 2x as likely to receive late orders.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late % with distance from Sao Paulo is only r = 0.15: very remote Amazon states (AC, RO, AM) are actually below average, mostly on small volumes and generous estimates.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follows the Northeast corridor and Rio, not raw distance.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measured from Sao Paulo to each state capital (assumed hub). Northeast = AL, BA, CE, MA, PB, PE, PI, RN, SE.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is the review killer: a 2.5-point drop in satisfaction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577840" y="146304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Time: 4.29 (88,163 reviews)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Late: 3.46 (3,568)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Late: 1.79 (4,093)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day late is associated with a lower score (r = -0.27).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is a direct driver of the negative-review spike, especially the &gt;5-day group.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CEO's hunch is half right: estimates are too generous nationally but too tight in 13 states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28016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37160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Nationally: median promise 23 days vs median actual 10 days.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AL, MA, CE, SE, BA and RJ the P90 actual time exceeds the promise.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promises only in the 13 under-padded states cuts the late rate from 8.1% to 5.6% with zero change to operations.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Medians and P90 of days from purchase to delivery, delivered orders only. Full table in state_summary.csv.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estimates by state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padding in the 13 under-padded states (largest: AL +8.6 days, SE +6.5, RJ +5.4). Quick win, no ops change.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23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Northeast and Rio lanes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carriers and transit times for AL, MA, PI, CE, SE, BA and RJ; RJ has the most volume at stake.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Super Late orders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more than 5 days late score 1.79. Trigger proactive customer messaging before day 5.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2026-09-28T18:14:07Z</dcterms:created>
  <dcterms:modified xsi:type="dcterms:W3CDTF">2026-09-28T18:14:07Z</dcterms:modified>
</cp:coreProperties>
</file>